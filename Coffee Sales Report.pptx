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51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($)</c:v>
                </c:pt>
              </c:strCache>
            </c:strRef>
          </c:tx>
          <c:spPr>
            <a:ln w="31750" cap="flat">
              <a:solidFill>
                <a:srgbClr val="C9A26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9A26D"/>
              </a:solidFill>
              <a:ln w="9525" cap="flat">
                <a:solidFill>
                  <a:srgbClr val="C9A26D"/>
                </a:solidFill>
                <a:prstDash val="solid"/>
                <a:round/>
              </a:ln>
              <a:effectLst/>
            </c:spPr>
          </c:marker>
          <c:cat>
            <c:strRef>
              <c:f>Sheet1!$A$2:$A$49</c:f>
              <c:strCache>
                <c:ptCount val="44"/>
                <c:pt idx="0">
                  <c:v>Jan-19</c:v>
                </c:pt>
                <c:pt idx="1">
                  <c:v>Feb-19</c:v>
                </c:pt>
                <c:pt idx="2">
                  <c:v>Mar-19</c:v>
                </c:pt>
                <c:pt idx="3">
                  <c:v>Apr-19</c:v>
                </c:pt>
                <c:pt idx="4">
                  <c:v>May-19</c:v>
                </c:pt>
                <c:pt idx="5">
                  <c:v>Jun-19</c:v>
                </c:pt>
                <c:pt idx="6">
                  <c:v>Jul-19</c:v>
                </c:pt>
                <c:pt idx="7">
                  <c:v>Aug-19</c:v>
                </c:pt>
                <c:pt idx="8">
                  <c:v>Sep-19</c:v>
                </c:pt>
                <c:pt idx="9">
                  <c:v>Oct-19</c:v>
                </c:pt>
                <c:pt idx="10">
                  <c:v>Nov-19</c:v>
                </c:pt>
                <c:pt idx="11">
                  <c:v>Dec-19</c:v>
                </c:pt>
                <c:pt idx="12">
                  <c:v>Jan-20</c:v>
                </c:pt>
                <c:pt idx="13">
                  <c:v>Feb-20</c:v>
                </c:pt>
                <c:pt idx="14">
                  <c:v>Mar-20</c:v>
                </c:pt>
                <c:pt idx="15">
                  <c:v>Apr-20</c:v>
                </c:pt>
                <c:pt idx="16">
                  <c:v>May-20</c:v>
                </c:pt>
                <c:pt idx="17">
                  <c:v>Jun-20</c:v>
                </c:pt>
                <c:pt idx="18">
                  <c:v>Jul-20</c:v>
                </c:pt>
                <c:pt idx="19">
                  <c:v>Aug-20</c:v>
                </c:pt>
                <c:pt idx="20">
                  <c:v>Sep-20</c:v>
                </c:pt>
                <c:pt idx="21">
                  <c:v>Oct-20</c:v>
                </c:pt>
                <c:pt idx="22">
                  <c:v>Nov-20</c:v>
                </c:pt>
                <c:pt idx="23">
                  <c:v>Dec-20</c:v>
                </c:pt>
                <c:pt idx="24">
                  <c:v>Jan-21</c:v>
                </c:pt>
                <c:pt idx="25">
                  <c:v>Feb-21</c:v>
                </c:pt>
                <c:pt idx="26">
                  <c:v>Mar-21</c:v>
                </c:pt>
                <c:pt idx="27">
                  <c:v>Apr-21</c:v>
                </c:pt>
                <c:pt idx="28">
                  <c:v>May-21</c:v>
                </c:pt>
                <c:pt idx="29">
                  <c:v>Jun-21</c:v>
                </c:pt>
                <c:pt idx="30">
                  <c:v>Jul-21</c:v>
                </c:pt>
                <c:pt idx="31">
                  <c:v>Aug-21</c:v>
                </c:pt>
                <c:pt idx="32">
                  <c:v>Sep-21</c:v>
                </c:pt>
                <c:pt idx="33">
                  <c:v>Oct-21</c:v>
                </c:pt>
                <c:pt idx="34">
                  <c:v>Nov-21</c:v>
                </c:pt>
                <c:pt idx="35">
                  <c:v>Dec-21</c:v>
                </c:pt>
                <c:pt idx="36">
                  <c:v>Jan-22</c:v>
                </c:pt>
                <c:pt idx="37">
                  <c:v>Feb-22</c:v>
                </c:pt>
                <c:pt idx="38">
                  <c:v>Mar-22</c:v>
                </c:pt>
                <c:pt idx="39">
                  <c:v>Apr-22</c:v>
                </c:pt>
                <c:pt idx="40">
                  <c:v>May-22</c:v>
                </c:pt>
                <c:pt idx="41">
                  <c:v>Jun-22</c:v>
                </c:pt>
                <c:pt idx="42">
                  <c:v>Jul-22</c:v>
                </c:pt>
                <c:pt idx="43">
                  <c:v>Aug-22</c:v>
                </c:pt>
              </c:strCache>
            </c:strRef>
          </c:cat>
          <c:val>
            <c:numRef>
              <c:f>Sheet1!$B$2:$B$49</c:f>
              <c:numCache>
                <c:formatCode>General</c:formatCode>
                <c:ptCount val="48"/>
                <c:pt idx="0">
                  <c:v>829</c:v>
                </c:pt>
                <c:pt idx="1">
                  <c:v>987</c:v>
                </c:pt>
                <c:pt idx="2" formatCode="#,##0">
                  <c:v>1021</c:v>
                </c:pt>
                <c:pt idx="3" formatCode="#,##0">
                  <c:v>1681</c:v>
                </c:pt>
                <c:pt idx="4">
                  <c:v>399</c:v>
                </c:pt>
                <c:pt idx="5" formatCode="#,##0">
                  <c:v>1385</c:v>
                </c:pt>
                <c:pt idx="6" formatCode="#,##0">
                  <c:v>1004</c:v>
                </c:pt>
                <c:pt idx="7">
                  <c:v>706</c:v>
                </c:pt>
                <c:pt idx="8" formatCode="#,##0">
                  <c:v>1277</c:v>
                </c:pt>
                <c:pt idx="9">
                  <c:v>885</c:v>
                </c:pt>
                <c:pt idx="10">
                  <c:v>823</c:v>
                </c:pt>
                <c:pt idx="11" formatCode="#,##0">
                  <c:v>1190</c:v>
                </c:pt>
                <c:pt idx="12">
                  <c:v>567</c:v>
                </c:pt>
                <c:pt idx="13" formatCode="#,##0">
                  <c:v>1798</c:v>
                </c:pt>
                <c:pt idx="14">
                  <c:v>915</c:v>
                </c:pt>
                <c:pt idx="15">
                  <c:v>762</c:v>
                </c:pt>
                <c:pt idx="16">
                  <c:v>939</c:v>
                </c:pt>
                <c:pt idx="17" formatCode="#,##0">
                  <c:v>1438</c:v>
                </c:pt>
                <c:pt idx="18" formatCode="#,##0">
                  <c:v>1309</c:v>
                </c:pt>
                <c:pt idx="19">
                  <c:v>300</c:v>
                </c:pt>
                <c:pt idx="20">
                  <c:v>713</c:v>
                </c:pt>
                <c:pt idx="21" formatCode="#,##0">
                  <c:v>1515</c:v>
                </c:pt>
                <c:pt idx="22" formatCode="#,##0">
                  <c:v>1109</c:v>
                </c:pt>
                <c:pt idx="23">
                  <c:v>752</c:v>
                </c:pt>
                <c:pt idx="24">
                  <c:v>838</c:v>
                </c:pt>
                <c:pt idx="25">
                  <c:v>959</c:v>
                </c:pt>
                <c:pt idx="26" formatCode="#,##0">
                  <c:v>1545</c:v>
                </c:pt>
                <c:pt idx="27" formatCode="#,##0">
                  <c:v>1006</c:v>
                </c:pt>
                <c:pt idx="28">
                  <c:v>908</c:v>
                </c:pt>
                <c:pt idx="29">
                  <c:v>865</c:v>
                </c:pt>
                <c:pt idx="30">
                  <c:v>763</c:v>
                </c:pt>
                <c:pt idx="31" formatCode="#,##0">
                  <c:v>1076</c:v>
                </c:pt>
                <c:pt idx="32" formatCode="#,##0">
                  <c:v>1644</c:v>
                </c:pt>
                <c:pt idx="33" formatCode="#,##0">
                  <c:v>1400</c:v>
                </c:pt>
                <c:pt idx="34" formatCode="#,##0">
                  <c:v>1616</c:v>
                </c:pt>
                <c:pt idx="35" formatCode="#,##0">
                  <c:v>1148</c:v>
                </c:pt>
                <c:pt idx="36" formatCode="#,##0">
                  <c:v>1269</c:v>
                </c:pt>
                <c:pt idx="37">
                  <c:v>394</c:v>
                </c:pt>
                <c:pt idx="38" formatCode="#,##0">
                  <c:v>1315</c:v>
                </c:pt>
                <c:pt idx="39">
                  <c:v>776</c:v>
                </c:pt>
                <c:pt idx="40" formatCode="#,##0">
                  <c:v>1002</c:v>
                </c:pt>
                <c:pt idx="41" formatCode="#,##0">
                  <c:v>1155</c:v>
                </c:pt>
                <c:pt idx="42">
                  <c:v>907</c:v>
                </c:pt>
                <c:pt idx="43">
                  <c:v>244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228-4C22-8765-EB76EEF49E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A08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DE5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A08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C9A26D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9A26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217-4586-AD68-09211758C5FF}"/>
              </c:ext>
            </c:extLst>
          </c:dPt>
          <c:dPt>
            <c:idx val="1"/>
            <c:invertIfNegative val="0"/>
            <c:bubble3D val="0"/>
            <c:spPr>
              <a:solidFill>
                <a:srgbClr val="8B5E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217-4586-AD68-09211758C5FF}"/>
              </c:ext>
            </c:extLst>
          </c:dPt>
          <c:dPt>
            <c:idx val="2"/>
            <c:invertIfNegative val="0"/>
            <c:bubble3D val="0"/>
            <c:spPr>
              <a:solidFill>
                <a:srgbClr val="6B40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217-4586-AD68-09211758C5F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3A202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United States</c:v>
                </c:pt>
                <c:pt idx="1">
                  <c:v>Ireland</c:v>
                </c:pt>
                <c:pt idx="2">
                  <c:v>United Kingdom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35638.879999999997</c:v>
                </c:pt>
                <c:pt idx="1">
                  <c:v>6696.86</c:v>
                </c:pt>
                <c:pt idx="2">
                  <c:v>2798.51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217-4586-AD68-09211758C5F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DE5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08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DF8F2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DF8F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1248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02891-4BEB-6FC0-65CF-459765D2C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A9608C-F7A4-E96B-6EEA-6D1C83E253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475BD0-AA5D-22C6-8E70-250932C946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9DE9F-7474-733B-E7B9-49C9C63150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22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A2020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4B2E2E"/>
          </a:solidFill>
          <a:ln w="12700">
            <a:solidFill>
              <a:srgbClr val="4B2E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6B4040"/>
          </a:solidFill>
          <a:ln w="12700">
            <a:solidFill>
              <a:srgbClr val="6B4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3840480"/>
            <a:ext cx="2011680" cy="2011680"/>
          </a:xfrm>
          <a:prstGeom prst="ellipse">
            <a:avLst/>
          </a:prstGeom>
          <a:solidFill>
            <a:srgbClr val="4B2E2E"/>
          </a:solidFill>
          <a:ln w="12700">
            <a:solidFill>
              <a:srgbClr val="4B2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63040"/>
            <a:ext cx="64008" cy="2194560"/>
          </a:xfrm>
          <a:prstGeom prst="rect">
            <a:avLst/>
          </a:prstGeom>
          <a:solidFill>
            <a:srgbClr val="C9A26D"/>
          </a:solidFill>
          <a:ln w="12700">
            <a:solidFill>
              <a:srgbClr val="C9A2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C9A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REPORT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845945"/>
            <a:ext cx="731520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5ECD8"/>
                </a:solidFill>
                <a:latin typeface="Georgia" pitchFamily="34" charset="0"/>
              </a:rPr>
              <a:t>COFFEE SALES REPORT</a:t>
            </a:r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4B2E2E"/>
          </a:solidFill>
          <a:ln w="12700">
            <a:solidFill>
              <a:srgbClr val="4B2E2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8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3A202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57200" cy="457200"/>
          </a:xfrm>
          <a:prstGeom prst="rect">
            <a:avLst/>
          </a:prstGeom>
          <a:solidFill>
            <a:srgbClr val="C9A26D"/>
          </a:solidFill>
          <a:ln w="12700">
            <a:solidFill>
              <a:srgbClr val="C9A2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5EC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
</a:t>
            </a:r>
            <a:r>
              <a:rPr lang="en-US" sz="1800" b="1" dirty="0">
                <a:solidFill>
                  <a:srgbClr val="C9A2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
</a:t>
            </a:r>
            <a:r>
              <a:rPr lang="en-US" sz="1800" b="1" dirty="0">
                <a:solidFill>
                  <a:srgbClr val="F5EC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INDICATORS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2148840"/>
            <a:ext cx="1371600" cy="45720"/>
          </a:xfrm>
          <a:prstGeom prst="rect">
            <a:avLst/>
          </a:prstGeom>
          <a:solidFill>
            <a:srgbClr val="C9A26D"/>
          </a:solidFill>
          <a:ln w="12700">
            <a:solidFill>
              <a:srgbClr val="C9A2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33172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A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overview of overall coffee business performance — covering total volume sold, cumulative revenue generated, and average transaction value per order.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502920"/>
            <a:ext cx="55778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  <a:effectLst>
            <a:outerShdw blurRad="101600" dist="25400" dir="5400000" algn="bl" rotWithShape="0">
              <a:srgbClr val="D4C4B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502920"/>
            <a:ext cx="64008" cy="1280160"/>
          </a:xfrm>
          <a:prstGeom prst="rect">
            <a:avLst/>
          </a:prstGeom>
          <a:solidFill>
            <a:srgbClr val="C9A26D"/>
          </a:solidFill>
          <a:ln w="12700">
            <a:solidFill>
              <a:srgbClr val="C9A2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6126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B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3,551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474720" y="1252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Coffee Sold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15087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across all markets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03720" y="6400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products sold across</a:t>
            </a:r>
            <a:endParaRPr lang="en-US" sz="850" dirty="0"/>
          </a:p>
          <a:p>
            <a:pPr marL="0" indent="0" algn="r">
              <a:buNone/>
            </a:pPr>
            <a:r>
              <a:rPr lang="en-US" sz="850" dirty="0">
                <a:solidFill>
                  <a:srgbClr val="A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Kingdom, United States,</a:t>
            </a:r>
            <a:endParaRPr lang="en-US" sz="850" dirty="0"/>
          </a:p>
          <a:p>
            <a:pPr marL="0" indent="0" algn="r">
              <a:buNone/>
            </a:pPr>
            <a:r>
              <a:rPr lang="en-US" sz="850" dirty="0">
                <a:solidFill>
                  <a:srgbClr val="A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Ireland combined.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46120" y="1984248"/>
            <a:ext cx="55778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  <a:effectLst>
            <a:outerShdw blurRad="101600" dist="25400" dir="5400000" algn="bl" rotWithShape="0">
              <a:srgbClr val="D4C4B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984248"/>
            <a:ext cx="64008" cy="1280160"/>
          </a:xfrm>
          <a:prstGeom prst="rect">
            <a:avLst/>
          </a:prstGeom>
          <a:solidFill>
            <a:srgbClr val="C9A26D"/>
          </a:solidFill>
          <a:ln w="12700">
            <a:solidFill>
              <a:srgbClr val="C9A2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209397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B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$45,654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474720" y="27340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29900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sales revenue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03720" y="212140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of $45,134 in gross revenue</a:t>
            </a:r>
            <a:endParaRPr lang="en-US" sz="850" dirty="0"/>
          </a:p>
          <a:p>
            <a:pPr marL="0" indent="0" algn="r">
              <a:buNone/>
            </a:pPr>
            <a:r>
              <a:rPr lang="en-US" sz="850" dirty="0">
                <a:solidFill>
                  <a:srgbClr val="A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across all regions and</a:t>
            </a:r>
            <a:endParaRPr lang="en-US" sz="850" dirty="0"/>
          </a:p>
          <a:p>
            <a:pPr marL="0" indent="0" algn="r">
              <a:buNone/>
            </a:pPr>
            <a:r>
              <a:rPr lang="en-US" sz="850" dirty="0">
                <a:solidFill>
                  <a:srgbClr val="A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periods analyzed.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46120" y="3465576"/>
            <a:ext cx="55778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  <a:effectLst>
            <a:outerShdw blurRad="101600" dist="25400" dir="5400000" algn="bl" rotWithShape="0">
              <a:srgbClr val="D4C4B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3465576"/>
            <a:ext cx="64008" cy="1280160"/>
          </a:xfrm>
          <a:prstGeom prst="rect">
            <a:avLst/>
          </a:prstGeom>
          <a:solidFill>
            <a:srgbClr val="C9A26D"/>
          </a:solidFill>
          <a:ln w="12700">
            <a:solidFill>
              <a:srgbClr val="C9A26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357530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B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$45.61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3474720" y="42153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74720" y="44714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transaction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03720" y="3602736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spend an average</a:t>
            </a:r>
            <a:endParaRPr lang="en-US" sz="850" dirty="0"/>
          </a:p>
          <a:p>
            <a:pPr marL="0" indent="0" algn="r">
              <a:buNone/>
            </a:pPr>
            <a:r>
              <a:rPr lang="en-US" sz="850" dirty="0">
                <a:solidFill>
                  <a:srgbClr val="A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$45.09 per order, indicating</a:t>
            </a:r>
            <a:endParaRPr lang="en-US" sz="850" dirty="0"/>
          </a:p>
          <a:p>
            <a:pPr marL="0" indent="0" algn="r">
              <a:buNone/>
            </a:pPr>
            <a:r>
              <a:rPr lang="en-US" sz="850" dirty="0">
                <a:solidFill>
                  <a:srgbClr val="A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mid-premium price segment.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8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A202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57200" cy="457200"/>
          </a:xfrm>
          <a:prstGeom prst="rect">
            <a:avLst/>
          </a:prstGeom>
          <a:solidFill>
            <a:srgbClr val="C9A26D"/>
          </a:solidFill>
          <a:ln w="12700">
            <a:solidFill>
              <a:srgbClr val="C9A2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914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EC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Trend Over Time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fluctuation across all product categories and regions</a:t>
            </a:r>
            <a:endParaRPr lang="en-US" sz="1000" dirty="0"/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36695648"/>
              </p:ext>
            </p:extLst>
          </p:nvPr>
        </p:nvGraphicFramePr>
        <p:xfrm>
          <a:off x="365760" y="1143000"/>
          <a:ext cx="84124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9EEF8FCB-7EDB-9E51-6946-ADF4BEF2D796}"/>
              </a:ext>
            </a:extLst>
          </p:cNvPr>
          <p:cNvGrpSpPr/>
          <p:nvPr/>
        </p:nvGrpSpPr>
        <p:grpSpPr>
          <a:xfrm>
            <a:off x="6668588" y="1078992"/>
            <a:ext cx="2380706" cy="1024128"/>
            <a:chOff x="6400800" y="1234440"/>
            <a:chExt cx="2560320" cy="1097280"/>
          </a:xfrm>
        </p:grpSpPr>
        <p:sp>
          <p:nvSpPr>
            <p:cNvPr id="9" name="Shape 6"/>
            <p:cNvSpPr/>
            <p:nvPr/>
          </p:nvSpPr>
          <p:spPr>
            <a:xfrm>
              <a:off x="6400800" y="1234440"/>
              <a:ext cx="2560320" cy="1097280"/>
            </a:xfrm>
            <a:prstGeom prst="rect">
              <a:avLst/>
            </a:prstGeom>
            <a:solidFill>
              <a:srgbClr val="3A2020"/>
            </a:solidFill>
            <a:ln w="12700">
              <a:solidFill>
                <a:srgbClr val="3A2020"/>
              </a:solidFill>
              <a:prstDash val="solid"/>
            </a:ln>
            <a:effectLst>
              <a:outerShdw blurRad="76200" dist="25400" dir="16200000" algn="bl" rotWithShape="0">
                <a:srgbClr val="000000">
                  <a:alpha val="20000"/>
                </a:srgbClr>
              </a:outerShdw>
            </a:effectLst>
          </p:spPr>
        </p:sp>
        <p:sp>
          <p:nvSpPr>
            <p:cNvPr id="10" name="Text 7"/>
            <p:cNvSpPr/>
            <p:nvPr/>
          </p:nvSpPr>
          <p:spPr>
            <a:xfrm>
              <a:off x="6492240" y="1298448"/>
              <a:ext cx="23774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kern="0" spc="200" dirty="0">
                  <a:solidFill>
                    <a:srgbClr val="C9A26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Peak Month</a:t>
              </a:r>
              <a:endParaRPr lang="en-US" sz="8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6492240" y="1527048"/>
              <a:ext cx="23774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5ECD8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February 2020</a:t>
              </a:r>
              <a:endParaRPr lang="en-US" sz="16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6492240" y="1847088"/>
              <a:ext cx="23774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A08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$1,798 highest revenue</a:t>
              </a:r>
              <a:endParaRPr lang="en-US" sz="800" dirty="0"/>
            </a:p>
            <a:p>
              <a:pPr marL="0" indent="0">
                <a:buNone/>
              </a:pPr>
              <a:r>
                <a:rPr lang="en-US" sz="800" dirty="0">
                  <a:solidFill>
                    <a:srgbClr val="A08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recorded in the period</a:t>
              </a:r>
              <a:endParaRPr lang="en-US" sz="8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8F2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3A2020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C9A26D"/>
          </a:solidFill>
          <a:ln w="12700">
            <a:solidFill>
              <a:srgbClr val="C9A2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274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B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5 Customers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total lifetime spend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307592"/>
            <a:ext cx="347472" cy="347472"/>
          </a:xfrm>
          <a:prstGeom prst="ellipse">
            <a:avLst/>
          </a:prstGeom>
          <a:solidFill>
            <a:srgbClr val="C9A26D"/>
          </a:solidFill>
          <a:ln w="12700">
            <a:solidFill>
              <a:srgbClr val="C9A2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2893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Allis Wilmore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0" y="12893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$317.07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1563624"/>
            <a:ext cx="4389120" cy="201168"/>
          </a:xfrm>
          <a:prstGeom prst="rect">
            <a:avLst/>
          </a:prstGeom>
          <a:solidFill>
            <a:srgbClr val="EDE5DA"/>
          </a:solidFill>
          <a:ln w="12700">
            <a:solidFill>
              <a:srgbClr val="EDE5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1563624"/>
            <a:ext cx="4389120" cy="201168"/>
          </a:xfrm>
          <a:prstGeom prst="rect">
            <a:avLst/>
          </a:prstGeom>
          <a:solidFill>
            <a:srgbClr val="C9A26D"/>
          </a:solidFill>
          <a:ln w="12700">
            <a:solidFill>
              <a:srgbClr val="C9A26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057400"/>
            <a:ext cx="347472" cy="347472"/>
          </a:xfrm>
          <a:prstGeom prst="ellipse">
            <a:avLst/>
          </a:prstGeom>
          <a:solidFill>
            <a:srgbClr val="8B5E5E"/>
          </a:solidFill>
          <a:ln w="12700">
            <a:solidFill>
              <a:srgbClr val="8B5E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057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20391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Brenn Dundredge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0" y="2039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$307.05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7240" y="2313432"/>
            <a:ext cx="4389120" cy="201168"/>
          </a:xfrm>
          <a:prstGeom prst="rect">
            <a:avLst/>
          </a:prstGeom>
          <a:solidFill>
            <a:srgbClr val="EDE5DA"/>
          </a:solidFill>
          <a:ln w="12700">
            <a:solidFill>
              <a:srgbClr val="EDE5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2313432"/>
            <a:ext cx="4248668" cy="201168"/>
          </a:xfrm>
          <a:prstGeom prst="rect">
            <a:avLst/>
          </a:prstGeom>
          <a:solidFill>
            <a:srgbClr val="8B5E5E"/>
          </a:solidFill>
          <a:ln w="12700">
            <a:solidFill>
              <a:srgbClr val="8B5E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807208"/>
            <a:ext cx="347472" cy="347472"/>
          </a:xfrm>
          <a:prstGeom prst="ellipse">
            <a:avLst/>
          </a:prstGeom>
          <a:solidFill>
            <a:srgbClr val="8B5E5E"/>
          </a:solidFill>
          <a:ln w="12700">
            <a:solidFill>
              <a:srgbClr val="8B5E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807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27889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 Farra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23360" y="27889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$289.11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7240" y="3063240"/>
            <a:ext cx="4389120" cy="201168"/>
          </a:xfrm>
          <a:prstGeom prst="rect">
            <a:avLst/>
          </a:prstGeom>
          <a:solidFill>
            <a:srgbClr val="EDE5DA"/>
          </a:solidFill>
          <a:ln w="12700">
            <a:solidFill>
              <a:srgbClr val="EDE5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3063240"/>
            <a:ext cx="4002877" cy="201168"/>
          </a:xfrm>
          <a:prstGeom prst="rect">
            <a:avLst/>
          </a:prstGeom>
          <a:solidFill>
            <a:srgbClr val="8B5E5E"/>
          </a:solidFill>
          <a:ln w="12700">
            <a:solidFill>
              <a:srgbClr val="8B5E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557016"/>
            <a:ext cx="347472" cy="347472"/>
          </a:xfrm>
          <a:prstGeom prst="ellipse">
            <a:avLst/>
          </a:prstGeom>
          <a:solidFill>
            <a:srgbClr val="8B5E5E"/>
          </a:solidFill>
          <a:ln w="12700">
            <a:solidFill>
              <a:srgbClr val="8B5E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557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35387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Nealson Cuttler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023360" y="35387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$281.67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77240" y="3813048"/>
            <a:ext cx="4389120" cy="201168"/>
          </a:xfrm>
          <a:prstGeom prst="rect">
            <a:avLst/>
          </a:prstGeom>
          <a:solidFill>
            <a:srgbClr val="EDE5DA"/>
          </a:solidFill>
          <a:ln w="12700">
            <a:solidFill>
              <a:srgbClr val="EDE5D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" y="3813048"/>
            <a:ext cx="3897539" cy="201168"/>
          </a:xfrm>
          <a:prstGeom prst="rect">
            <a:avLst/>
          </a:prstGeom>
          <a:solidFill>
            <a:srgbClr val="8B5E5E"/>
          </a:solidFill>
          <a:ln w="12700">
            <a:solidFill>
              <a:srgbClr val="8B5E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4306824"/>
            <a:ext cx="347472" cy="347472"/>
          </a:xfrm>
          <a:prstGeom prst="ellipse">
            <a:avLst/>
          </a:prstGeom>
          <a:solidFill>
            <a:srgbClr val="8B5E5E"/>
          </a:solidFill>
          <a:ln w="12700">
            <a:solidFill>
              <a:srgbClr val="8B5E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306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7240" y="42885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 Flintiff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023360" y="42885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$278.01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77240" y="4562856"/>
            <a:ext cx="4389120" cy="201168"/>
          </a:xfrm>
          <a:prstGeom prst="rect">
            <a:avLst/>
          </a:prstGeom>
          <a:solidFill>
            <a:srgbClr val="EDE5DA"/>
          </a:solidFill>
          <a:ln w="12700">
            <a:solidFill>
              <a:srgbClr val="EDE5D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4562856"/>
            <a:ext cx="3849258" cy="201168"/>
          </a:xfrm>
          <a:prstGeom prst="rect">
            <a:avLst/>
          </a:prstGeom>
          <a:solidFill>
            <a:srgbClr val="8B5E5E"/>
          </a:solidFill>
          <a:ln w="12700">
            <a:solidFill>
              <a:srgbClr val="8B5E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548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EC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5EC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6355080" y="1325880"/>
            <a:ext cx="1097280" cy="45720"/>
          </a:xfrm>
          <a:prstGeom prst="rect">
            <a:avLst/>
          </a:prstGeom>
          <a:solidFill>
            <a:srgbClr val="C9A26D"/>
          </a:solidFill>
          <a:ln w="12700">
            <a:solidFill>
              <a:srgbClr val="C9A26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55080" y="1508760"/>
            <a:ext cx="2560320" cy="1051560"/>
          </a:xfrm>
          <a:prstGeom prst="rect">
            <a:avLst/>
          </a:prstGeom>
          <a:solidFill>
            <a:srgbClr val="4B2E2E"/>
          </a:solidFill>
          <a:ln w="12700">
            <a:solidFill>
              <a:srgbClr val="4B2E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46520" y="15819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2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5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446520" y="20299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account for ~3.5% of total revenue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355080" y="2715768"/>
            <a:ext cx="2560320" cy="1051560"/>
          </a:xfrm>
          <a:prstGeom prst="rect">
            <a:avLst/>
          </a:prstGeom>
          <a:solidFill>
            <a:srgbClr val="4B2E2E"/>
          </a:solidFill>
          <a:ln w="12700">
            <a:solidFill>
              <a:srgbClr val="4B2E2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46520" y="2788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2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$1,672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6446520" y="323697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spend from top 5 customers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355080" y="3922776"/>
            <a:ext cx="2560320" cy="1051560"/>
          </a:xfrm>
          <a:prstGeom prst="rect">
            <a:avLst/>
          </a:prstGeom>
          <a:solidFill>
            <a:srgbClr val="4B2E2E"/>
          </a:solidFill>
          <a:ln w="12700">
            <a:solidFill>
              <a:srgbClr val="4B2E2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46520" y="39959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2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$39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6446520" y="44439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spend gap between #1 and #5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A2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4046220"/>
          </a:xfrm>
          <a:prstGeom prst="rect">
            <a:avLst/>
          </a:prstGeom>
          <a:solidFill>
            <a:srgbClr val="FDF8F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57200" cy="457200"/>
          </a:xfrm>
          <a:prstGeom prst="rect">
            <a:avLst/>
          </a:prstGeom>
          <a:solidFill>
            <a:srgbClr val="C9A26D"/>
          </a:solidFill>
          <a:ln w="12700">
            <a:solidFill>
              <a:srgbClr val="C9A2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914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EC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by Country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4360" y="6217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distribution across key markets</a:t>
            </a:r>
            <a:endParaRPr lang="en-US" sz="10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74320" y="1280160"/>
          <a:ext cx="53035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852160" y="1325880"/>
            <a:ext cx="2971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0" y="1325880"/>
            <a:ext cx="2971800" cy="64008"/>
          </a:xfrm>
          <a:prstGeom prst="rect">
            <a:avLst/>
          </a:prstGeom>
          <a:solidFill>
            <a:srgbClr val="C9A26D"/>
          </a:solidFill>
          <a:ln w="12700">
            <a:solidFill>
              <a:srgbClr val="C9A26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1435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 United States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89320" y="17282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B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$35,638.88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772400" y="1783080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C9A26D"/>
          </a:solidFill>
          <a:ln w="12700">
            <a:solidFill>
              <a:srgbClr val="C9A26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0" y="17830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989320" y="20939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revenue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852160" y="2560320"/>
            <a:ext cx="2971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852160" y="2560320"/>
            <a:ext cx="2971800" cy="64008"/>
          </a:xfrm>
          <a:prstGeom prst="rect">
            <a:avLst/>
          </a:prstGeom>
          <a:solidFill>
            <a:srgbClr val="8B5E5E"/>
          </a:solidFill>
          <a:ln w="12700">
            <a:solidFill>
              <a:srgbClr val="8B5E5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89320" y="2670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🇮🇪  Ireland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989320" y="29626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B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$6,696.86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7772400" y="3017520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8B5E5E"/>
          </a:solidFill>
          <a:ln w="12700">
            <a:solidFill>
              <a:srgbClr val="8B5E5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0" y="30175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14.8%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989320" y="33284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revenue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852160" y="3794760"/>
            <a:ext cx="2971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852160" y="3794760"/>
            <a:ext cx="2971800" cy="64008"/>
          </a:xfrm>
          <a:prstGeom prst="rect">
            <a:avLst/>
          </a:prstGeom>
          <a:solidFill>
            <a:srgbClr val="6B4040"/>
          </a:solidFill>
          <a:ln w="12700">
            <a:solidFill>
              <a:srgbClr val="6B404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89320" y="39044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🇬🇧  United Kingdom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989320" y="419709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B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$2,798.51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7772400" y="4251960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6B4040"/>
          </a:solidFill>
          <a:ln w="12700">
            <a:solidFill>
              <a:srgbClr val="6B404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772400" y="42519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989320" y="45628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revenue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A202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474720"/>
            <a:ext cx="3200400" cy="3200400"/>
          </a:xfrm>
          <a:prstGeom prst="ellipse">
            <a:avLst/>
          </a:prstGeom>
          <a:solidFill>
            <a:srgbClr val="4B2E2E"/>
          </a:solidFill>
          <a:ln w="12700">
            <a:solidFill>
              <a:srgbClr val="4B2E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-914400"/>
            <a:ext cx="2743200" cy="2743200"/>
          </a:xfrm>
          <a:prstGeom prst="ellipse">
            <a:avLst/>
          </a:prstGeom>
          <a:solidFill>
            <a:srgbClr val="4B2E2E"/>
          </a:solidFill>
          <a:ln w="12700">
            <a:solidFill>
              <a:srgbClr val="4B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731520"/>
            <a:ext cx="64008" cy="3657600"/>
          </a:xfrm>
          <a:prstGeom prst="rect">
            <a:avLst/>
          </a:prstGeom>
          <a:solidFill>
            <a:srgbClr val="C9A26D"/>
          </a:solidFill>
          <a:ln w="12700">
            <a:solidFill>
              <a:srgbClr val="C9A2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85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EC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 &amp;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A2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984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Market Dominance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34440" y="225856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900" dirty="0">
                <a:solidFill>
                  <a:srgbClr val="A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United States generates 79% of total revenue ($35,638). Doubling down on U.S. marketing and distribution channels should be the top growth priority.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3227832"/>
            <a:ext cx="4114800" cy="13716"/>
          </a:xfrm>
          <a:prstGeom prst="rect">
            <a:avLst/>
          </a:prstGeom>
          <a:solidFill>
            <a:srgbClr val="6B4040"/>
          </a:solidFill>
          <a:ln w="12700">
            <a:solidFill>
              <a:srgbClr val="6B4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3401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Seasonality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34440" y="367588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900" dirty="0">
                <a:solidFill>
                  <a:srgbClr val="A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peak in </a:t>
            </a:r>
            <a:r>
              <a:rPr lang="en-US" sz="900" dirty="0" err="1">
                <a:solidFill>
                  <a:srgbClr val="A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</a:t>
            </a:r>
            <a:r>
              <a:rPr lang="en-US" sz="900" dirty="0">
                <a:solidFill>
                  <a:srgbClr val="A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suggesting seasonal demand. Pre-season inventory build-up and promotional campaigns should align to this cycle.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0" y="1984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 Opportunity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0" y="2258568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900" dirty="0">
                <a:solidFill>
                  <a:srgbClr val="A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customers each spend $278–$317. A loyalty program or subscription model could increase LTV and create more predictable recurring revenue.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37760" y="3227832"/>
            <a:ext cx="4114800" cy="13716"/>
          </a:xfrm>
          <a:prstGeom prst="rect">
            <a:avLst/>
          </a:prstGeom>
          <a:solidFill>
            <a:srgbClr val="6B4040"/>
          </a:solidFill>
          <a:ln w="12700">
            <a:solidFill>
              <a:srgbClr val="6B40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86400" y="3401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Ireland Growth Potential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3675888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900" dirty="0">
                <a:solidFill>
                  <a:srgbClr val="A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Ireland holds 14.8% share — a meaningful market. Targeted expansion efforts here could yield disproportionate gains given its existing traction.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339F5-E528-A4D9-67C9-3F0F4ECB8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FC24103-81B3-A4EF-2CD9-F9E478337ED7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A2020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58BFD5D-EA17-7FDE-DA03-E792BCE1C7F9}"/>
              </a:ext>
            </a:extLst>
          </p:cNvPr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4B2E2E"/>
          </a:solidFill>
          <a:ln w="12700">
            <a:solidFill>
              <a:srgbClr val="4B2E2E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16AB5EA-4A60-D09E-E235-FB5663621A6B}"/>
              </a:ext>
            </a:extLst>
          </p:cNvPr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6B4040"/>
          </a:solidFill>
          <a:ln w="12700">
            <a:solidFill>
              <a:srgbClr val="6B4040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A33E7DB-0012-535E-1827-BEA34C5928C4}"/>
              </a:ext>
            </a:extLst>
          </p:cNvPr>
          <p:cNvSpPr/>
          <p:nvPr/>
        </p:nvSpPr>
        <p:spPr>
          <a:xfrm>
            <a:off x="-731520" y="3840480"/>
            <a:ext cx="2011680" cy="2011680"/>
          </a:xfrm>
          <a:prstGeom prst="ellipse">
            <a:avLst/>
          </a:prstGeom>
          <a:solidFill>
            <a:srgbClr val="4B2E2E"/>
          </a:solidFill>
          <a:ln w="12700">
            <a:solidFill>
              <a:srgbClr val="4B2E2E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598BB5F-D50A-DB3E-6704-03CC3015C17F}"/>
              </a:ext>
            </a:extLst>
          </p:cNvPr>
          <p:cNvSpPr/>
          <p:nvPr/>
        </p:nvSpPr>
        <p:spPr>
          <a:xfrm>
            <a:off x="502920" y="1463040"/>
            <a:ext cx="64008" cy="2194560"/>
          </a:xfrm>
          <a:prstGeom prst="rect">
            <a:avLst/>
          </a:prstGeom>
          <a:solidFill>
            <a:srgbClr val="C9A26D"/>
          </a:solidFill>
          <a:ln w="12700">
            <a:solidFill>
              <a:srgbClr val="C9A26D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29C10B9-B304-4C52-FA01-CA9C40193CB8}"/>
              </a:ext>
            </a:extLst>
          </p:cNvPr>
          <p:cNvSpPr/>
          <p:nvPr/>
        </p:nvSpPr>
        <p:spPr>
          <a:xfrm>
            <a:off x="712470" y="17830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5EC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F79E6A5-8482-9CC4-37DB-4EFE5DE454B2}"/>
              </a:ext>
            </a:extLst>
          </p:cNvPr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4B2E2E"/>
          </a:solidFill>
          <a:ln w="12700">
            <a:solidFill>
              <a:srgbClr val="4B2E2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37846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366</Words>
  <Application>Microsoft Office PowerPoint</Application>
  <PresentationFormat>On-screen Show (16:9)</PresentationFormat>
  <Paragraphs>93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Coffee Sales Report</dc:title>
  <dc:subject>PptxGenJS Presentation</dc:subject>
  <dc:creator>PptxGenJS</dc:creator>
  <cp:lastModifiedBy>Ade Eriyanto</cp:lastModifiedBy>
  <cp:revision>11</cp:revision>
  <dcterms:created xsi:type="dcterms:W3CDTF">2026-05-01T08:33:37Z</dcterms:created>
  <dcterms:modified xsi:type="dcterms:W3CDTF">2026-05-01T08:49:05Z</dcterms:modified>
</cp:coreProperties>
</file>